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7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2145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E852B-FD0D-6220-FA98-AC535180B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B4C3FF-BEA5-1FBE-75A5-0AF29F66AD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7D3EBF-8CEC-D9C3-598E-19310600C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9F5A1-B64D-6D7E-9423-788ABD99FD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87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3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Modeling the Relationship Between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Workload and Mental Health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3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University Students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0" y="2286000"/>
            <a:ext cx="45720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423160"/>
            <a:ext cx="2286000" cy="347472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231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CSE303: Statistics for Data Science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2423160"/>
            <a:ext cx="2286000" cy="347472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24231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2423160"/>
            <a:ext cx="2286000" cy="347472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4231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205 Students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9260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Project Report</a:t>
            </a:r>
            <a:endParaRPr lang="en-US" sz="15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14400" y="3429000"/>
            <a:ext cx="2194560" cy="822960"/>
          </a:xfrm>
          <a:prstGeom prst="rect">
            <a:avLst/>
          </a:prstGeom>
          <a:solidFill>
            <a:srgbClr val="EEF9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4290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 Collection &amp; EDA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0" y="3429000"/>
            <a:ext cx="2194560" cy="822960"/>
          </a:xfrm>
          <a:prstGeom prst="rect">
            <a:avLst/>
          </a:prstGeom>
          <a:solidFill>
            <a:srgbClr val="EEF9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34290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Correlation Analysis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3429000"/>
            <a:ext cx="2194560" cy="822960"/>
          </a:xfrm>
          <a:prstGeom prst="rect">
            <a:avLst/>
          </a:prstGeom>
          <a:solidFill>
            <a:srgbClr val="EEF9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34290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Linear Regression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938AF4-77A9-0EF2-A284-2BFF77DA8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0B0038B-4255-D2DD-845A-D9F877CC4D75}"/>
              </a:ext>
            </a:extLst>
          </p:cNvPr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0048475-8262-83BA-2499-13165D01B5EC}"/>
              </a:ext>
            </a:extLst>
          </p:cNvPr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27334642-A97B-7A05-4634-979F9F08648B}"/>
              </a:ext>
            </a:extLst>
          </p:cNvPr>
          <p:cNvSpPr/>
          <p:nvPr/>
        </p:nvSpPr>
        <p:spPr>
          <a:xfrm>
            <a:off x="1216856" y="1187313"/>
            <a:ext cx="640080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</a:ln>
        </p:spPr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B97E6E65-3D5D-C82F-209B-85D0E97E25F3}"/>
              </a:ext>
            </a:extLst>
          </p:cNvPr>
          <p:cNvSpPr/>
          <p:nvPr/>
        </p:nvSpPr>
        <p:spPr>
          <a:xfrm>
            <a:off x="269748" y="1947672"/>
            <a:ext cx="3886200" cy="2286000"/>
          </a:xfrm>
          <a:prstGeom prst="rect">
            <a:avLst/>
          </a:prstGeom>
          <a:solidFill>
            <a:srgbClr val="EEF9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3BAE315D-2C4C-0480-40CC-ADDDDDD037F3}"/>
              </a:ext>
            </a:extLst>
          </p:cNvPr>
          <p:cNvSpPr/>
          <p:nvPr/>
        </p:nvSpPr>
        <p:spPr>
          <a:xfrm>
            <a:off x="406908" y="2293737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SUBMITTED TO</a:t>
            </a:r>
            <a:endParaRPr lang="en-US" sz="900" dirty="0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F798234-EB86-CEF5-A8BB-AE2CDE00C6EC}"/>
              </a:ext>
            </a:extLst>
          </p:cNvPr>
          <p:cNvSpPr/>
          <p:nvPr/>
        </p:nvSpPr>
        <p:spPr>
          <a:xfrm>
            <a:off x="406908" y="2622921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Ahmed Adnan</a:t>
            </a:r>
            <a:endParaRPr lang="en-US" sz="16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29C95451-0E38-B7D8-E07D-69D12B117038}"/>
              </a:ext>
            </a:extLst>
          </p:cNvPr>
          <p:cNvSpPr/>
          <p:nvPr/>
        </p:nvSpPr>
        <p:spPr>
          <a:xfrm>
            <a:off x="406908" y="2970393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Lecturer, Department of CSE</a:t>
            </a:r>
            <a:endParaRPr lang="en-US" sz="1150" dirty="0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74890E29-B05B-B082-F316-8F1A93636D9A}"/>
              </a:ext>
            </a:extLst>
          </p:cNvPr>
          <p:cNvSpPr/>
          <p:nvPr/>
        </p:nvSpPr>
        <p:spPr>
          <a:xfrm>
            <a:off x="406908" y="3244713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West University</a:t>
            </a:r>
            <a:endParaRPr lang="en-US" sz="1150" dirty="0"/>
          </a:p>
        </p:txBody>
      </p:sp>
      <p:sp>
        <p:nvSpPr>
          <p:cNvPr id="28" name="Shape 15">
            <a:extLst>
              <a:ext uri="{FF2B5EF4-FFF2-40B4-BE49-F238E27FC236}">
                <a16:creationId xmlns:a16="http://schemas.microsoft.com/office/drawing/2014/main" id="{F3A17465-6B9B-A9B8-EF1D-EA779CE33295}"/>
              </a:ext>
            </a:extLst>
          </p:cNvPr>
          <p:cNvSpPr/>
          <p:nvPr/>
        </p:nvSpPr>
        <p:spPr>
          <a:xfrm>
            <a:off x="4572000" y="1947672"/>
            <a:ext cx="4206240" cy="2286000"/>
          </a:xfrm>
          <a:prstGeom prst="rect">
            <a:avLst/>
          </a:prstGeom>
          <a:solidFill>
            <a:srgbClr val="EEF9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3E0F0FE2-2A26-16A3-AB5A-A4842317F397}"/>
              </a:ext>
            </a:extLst>
          </p:cNvPr>
          <p:cNvSpPr/>
          <p:nvPr/>
        </p:nvSpPr>
        <p:spPr>
          <a:xfrm>
            <a:off x="4652890" y="2131959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SUBMITTED BY</a:t>
            </a:r>
            <a:endParaRPr lang="en-US" sz="900" dirty="0"/>
          </a:p>
        </p:txBody>
      </p:sp>
      <p:sp>
        <p:nvSpPr>
          <p:cNvPr id="31" name="Shape 18">
            <a:extLst>
              <a:ext uri="{FF2B5EF4-FFF2-40B4-BE49-F238E27FC236}">
                <a16:creationId xmlns:a16="http://schemas.microsoft.com/office/drawing/2014/main" id="{7A6915B2-F87C-383D-3BF8-C81F5B66D498}"/>
              </a:ext>
            </a:extLst>
          </p:cNvPr>
          <p:cNvSpPr/>
          <p:nvPr/>
        </p:nvSpPr>
        <p:spPr>
          <a:xfrm>
            <a:off x="4652890" y="2534295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19">
            <a:extLst>
              <a:ext uri="{FF2B5EF4-FFF2-40B4-BE49-F238E27FC236}">
                <a16:creationId xmlns:a16="http://schemas.microsoft.com/office/drawing/2014/main" id="{8EDBC502-127A-579F-5D44-B77AE76D9F63}"/>
              </a:ext>
            </a:extLst>
          </p:cNvPr>
          <p:cNvSpPr/>
          <p:nvPr/>
        </p:nvSpPr>
        <p:spPr>
          <a:xfrm>
            <a:off x="4863202" y="2442855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Bushra Khan Zilik</a:t>
            </a:r>
            <a:endParaRPr lang="en-US" sz="1150" dirty="0"/>
          </a:p>
        </p:txBody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8FBEA92C-A694-3FC8-732F-DEB7A4F307FA}"/>
              </a:ext>
            </a:extLst>
          </p:cNvPr>
          <p:cNvSpPr/>
          <p:nvPr/>
        </p:nvSpPr>
        <p:spPr>
          <a:xfrm>
            <a:off x="6911458" y="2442855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2023-1-60-087</a:t>
            </a:r>
            <a:endParaRPr lang="en-US" sz="1050" dirty="0"/>
          </a:p>
        </p:txBody>
      </p:sp>
      <p:sp>
        <p:nvSpPr>
          <p:cNvPr id="34" name="Shape 21">
            <a:extLst>
              <a:ext uri="{FF2B5EF4-FFF2-40B4-BE49-F238E27FC236}">
                <a16:creationId xmlns:a16="http://schemas.microsoft.com/office/drawing/2014/main" id="{1EE6534E-5470-FE84-697B-E2FE7EB603CF}"/>
              </a:ext>
            </a:extLst>
          </p:cNvPr>
          <p:cNvSpPr/>
          <p:nvPr/>
        </p:nvSpPr>
        <p:spPr>
          <a:xfrm>
            <a:off x="4652890" y="3009783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22">
            <a:extLst>
              <a:ext uri="{FF2B5EF4-FFF2-40B4-BE49-F238E27FC236}">
                <a16:creationId xmlns:a16="http://schemas.microsoft.com/office/drawing/2014/main" id="{361B4654-FDF4-2210-2283-F6260629B557}"/>
              </a:ext>
            </a:extLst>
          </p:cNvPr>
          <p:cNvSpPr/>
          <p:nvPr/>
        </p:nvSpPr>
        <p:spPr>
          <a:xfrm>
            <a:off x="4863202" y="2918343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Nusrat Jahan</a:t>
            </a:r>
            <a:endParaRPr lang="en-US" sz="1150" dirty="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B526615B-F52B-26B3-1CF3-1C0E218A50F5}"/>
              </a:ext>
            </a:extLst>
          </p:cNvPr>
          <p:cNvSpPr/>
          <p:nvPr/>
        </p:nvSpPr>
        <p:spPr>
          <a:xfrm>
            <a:off x="6911458" y="2918343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2023-2-60-286</a:t>
            </a:r>
            <a:endParaRPr lang="en-US" sz="1050" dirty="0"/>
          </a:p>
        </p:txBody>
      </p:sp>
      <p:sp>
        <p:nvSpPr>
          <p:cNvPr id="37" name="Shape 24">
            <a:extLst>
              <a:ext uri="{FF2B5EF4-FFF2-40B4-BE49-F238E27FC236}">
                <a16:creationId xmlns:a16="http://schemas.microsoft.com/office/drawing/2014/main" id="{523170E4-E51F-0270-7FB3-073610E97A86}"/>
              </a:ext>
            </a:extLst>
          </p:cNvPr>
          <p:cNvSpPr/>
          <p:nvPr/>
        </p:nvSpPr>
        <p:spPr>
          <a:xfrm>
            <a:off x="4652890" y="3485271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Text 25">
            <a:extLst>
              <a:ext uri="{FF2B5EF4-FFF2-40B4-BE49-F238E27FC236}">
                <a16:creationId xmlns:a16="http://schemas.microsoft.com/office/drawing/2014/main" id="{95E8B505-EC65-2FBF-F687-6F4304FEE684}"/>
              </a:ext>
            </a:extLst>
          </p:cNvPr>
          <p:cNvSpPr/>
          <p:nvPr/>
        </p:nvSpPr>
        <p:spPr>
          <a:xfrm>
            <a:off x="4863202" y="3393831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Mahadi Hasan</a:t>
            </a:r>
            <a:endParaRPr lang="en-US" sz="115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0A1779D4-6204-ACB1-8D17-7CB6982073DC}"/>
              </a:ext>
            </a:extLst>
          </p:cNvPr>
          <p:cNvSpPr/>
          <p:nvPr/>
        </p:nvSpPr>
        <p:spPr>
          <a:xfrm>
            <a:off x="6911458" y="3393831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2021-3-60-270</a:t>
            </a:r>
            <a:endParaRPr lang="en-US" sz="1050" dirty="0"/>
          </a:p>
        </p:txBody>
      </p:sp>
      <p:sp>
        <p:nvSpPr>
          <p:cNvPr id="40" name="Shape 27">
            <a:extLst>
              <a:ext uri="{FF2B5EF4-FFF2-40B4-BE49-F238E27FC236}">
                <a16:creationId xmlns:a16="http://schemas.microsoft.com/office/drawing/2014/main" id="{9622A75F-512C-6D56-B690-798B0F3C5DE0}"/>
              </a:ext>
            </a:extLst>
          </p:cNvPr>
          <p:cNvSpPr/>
          <p:nvPr/>
        </p:nvSpPr>
        <p:spPr>
          <a:xfrm>
            <a:off x="4652890" y="3960759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BA5713E0-022B-9EBD-8BAF-43D1C8141D56}"/>
              </a:ext>
            </a:extLst>
          </p:cNvPr>
          <p:cNvSpPr/>
          <p:nvPr/>
        </p:nvSpPr>
        <p:spPr>
          <a:xfrm>
            <a:off x="4863202" y="3869319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Sakib Husen</a:t>
            </a:r>
            <a:endParaRPr lang="en-US" sz="1150" dirty="0"/>
          </a:p>
        </p:txBody>
      </p:sp>
      <p:sp>
        <p:nvSpPr>
          <p:cNvPr id="42" name="Text 29">
            <a:extLst>
              <a:ext uri="{FF2B5EF4-FFF2-40B4-BE49-F238E27FC236}">
                <a16:creationId xmlns:a16="http://schemas.microsoft.com/office/drawing/2014/main" id="{B01FA012-C48E-F397-1F1A-D04BB78F7FF2}"/>
              </a:ext>
            </a:extLst>
          </p:cNvPr>
          <p:cNvSpPr/>
          <p:nvPr/>
        </p:nvSpPr>
        <p:spPr>
          <a:xfrm>
            <a:off x="6911458" y="3869319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2022-1-60-274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68462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Outline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50292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8016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3533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&amp; Motivation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7007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student mental health matters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212848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212848"/>
            <a:ext cx="502920" cy="8046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12848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Survey Design &amp; Data Collection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6334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 records — real + synthetic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145536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145536"/>
            <a:ext cx="50292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145536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21868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5661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encoding &amp; imputation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4078224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078224"/>
            <a:ext cx="502920" cy="8046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078224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415137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4988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boxplots, correlations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28016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280160"/>
            <a:ext cx="50292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28016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49240" y="13533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Regression Models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49240" y="17007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OLS models built from scratch (NumPy)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212848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212848"/>
            <a:ext cx="502920" cy="8046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212848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49240" y="228600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Evaluation &amp; Comparison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9240" y="26334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R², RMSE, F-stat, p-value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145536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145536"/>
            <a:ext cx="50292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145536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49240" y="321868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 &amp; Recommendations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49240" y="35661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and actionable suggestions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4078224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4078224"/>
            <a:ext cx="502920" cy="8046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4078224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349240" y="415137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Future Work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49240" y="44988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|  Introduction &amp; Motivation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14800" cy="1600200"/>
          </a:xfrm>
          <a:prstGeom prst="rect">
            <a:avLst/>
          </a:prstGeom>
          <a:solidFill>
            <a:srgbClr val="EEF9F8"/>
          </a:solidFill>
          <a:ln w="254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41148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students face mounting pressure from coursework, deadlines, part-time jobs, and extracurricular commitments — all impacting mental health.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834640"/>
            <a:ext cx="4114800" cy="1600200"/>
          </a:xfrm>
          <a:prstGeom prst="rect">
            <a:avLst/>
          </a:prstGeom>
          <a:solidFill>
            <a:srgbClr val="EEF9F8"/>
          </a:solidFill>
          <a:ln w="25400">
            <a:solidFill>
              <a:srgbClr val="F9731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834640"/>
            <a:ext cx="41148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443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Outcomes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effects include elevated stress, heightened anxiety, disrupted sleep, and reduced academic performance.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114800" cy="1600200"/>
          </a:xfrm>
          <a:prstGeom prst="rect">
            <a:avLst/>
          </a:prstGeom>
          <a:solidFill>
            <a:srgbClr val="EEF9F8"/>
          </a:solidFill>
          <a:ln w="254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97280"/>
            <a:ext cx="41148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2070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Goal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55448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relationship between academic workload factors and mental health outcomes using statistical methods.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4114800" cy="1600200"/>
          </a:xfrm>
          <a:prstGeom prst="rect">
            <a:avLst/>
          </a:prstGeom>
          <a:solidFill>
            <a:srgbClr val="EEF9F8"/>
          </a:solidFill>
          <a:ln w="2540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34640"/>
            <a:ext cx="41148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9443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29184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can guide administrators, counsellors, and students to make evidence-based decisions to improve well-being.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3 linear regression models | OLS from scratch using NumPy | n = 205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Objectives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10896" y="1089543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258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18872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distribute a survey to collect real student data on workload and mental health indicators.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2359152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58775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" y="2450592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the combined dataset (205 records) — handling missing values, outliers, and encoding.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3621024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3849624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849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78408" y="3712464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descriptive statistics, Pearson correlations, and variance analysis on key variables.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3258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13248" y="118872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three OLS simple linear regression models entirely from scratch using NumPy.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2359152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58775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13248" y="2450592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regression coefficients β₀ and β₁, assessing statistical significance (F-stat, p-value, R²).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54880" y="3621024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849624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849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13248" y="3712464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evidence-based recommendations for improving student well-being based on findings.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| Survey Design &amp; Variables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6974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697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1: Demographics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745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of Study (1st–4th)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51460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(Male/Female)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1546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(numeric)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7947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 (optional)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1234440"/>
            <a:ext cx="26974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234440"/>
            <a:ext cx="269748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2344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2: Workload Factors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37560" y="1920240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18745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study hours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37560" y="2560320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251460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of courses enrolled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37560" y="3200400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31546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Extracurricular (Yes/No + hours)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37560" y="3840480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1880" y="37947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Part-time job (Yes/No + hours)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80760" y="1234440"/>
            <a:ext cx="26974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0760" y="1234440"/>
            <a:ext cx="26974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12344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3: Mental Health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17920" y="192024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18745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level (1–5 Likert)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256032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251460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score (1–5 Likert)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320040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31546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hours (numeric)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384048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37947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quality (1–10 scale)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55 real responses collected via Google Forms  +  150 synthetic records generated  =  205 total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Demographics</a:t>
            </a:r>
            <a:endParaRPr lang="en-US" sz="2400" dirty="0"/>
          </a:p>
        </p:txBody>
      </p:sp>
      <p:pic>
        <p:nvPicPr>
          <p:cNvPr id="5" name="Image 0" descr="/home/claude/fig_demograph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005840"/>
            <a:ext cx="640080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1188720"/>
            <a:ext cx="18745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2880" y="1188720"/>
            <a:ext cx="18745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128016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110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82880" y="175564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Students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82880" y="2240280"/>
            <a:ext cx="18745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82880" y="2240280"/>
            <a:ext cx="187452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2880" y="23317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82880" y="280720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Students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82880" y="3291840"/>
            <a:ext cx="18745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82880" y="3291840"/>
            <a:ext cx="18745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82880" y="338328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69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182880" y="385876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Year (largest)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82880" y="4343400"/>
            <a:ext cx="8778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sample is slightly male-dominant (53.7% vs 46.3%). Year 4 students form the largest cohort,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suggesting senior students were more willing to participate in mental health surveys.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| Data Preprocessing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38404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3840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12435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Column Renaming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53619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verbose Google Form headers to short, consistent names.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14884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48840"/>
            <a:ext cx="384048" cy="8046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148840"/>
            <a:ext cx="3840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9808" y="22037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 Tagging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" y="249631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'DataType' column (Real / Synthetic) for traceability.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10896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108960"/>
            <a:ext cx="38404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108960"/>
            <a:ext cx="3840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31638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Numeric Cleaning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" y="345643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ranges (e.g., '7-8'→7.5), stripped units, averaged ranges.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06908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069080"/>
            <a:ext cx="384048" cy="8046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069080"/>
            <a:ext cx="3840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9808" y="41239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Cleaning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9808" y="44165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'Graduated', typos ('4rth'), and out-of-range (e.g., 5th yr).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118872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188720"/>
            <a:ext cx="38404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188720"/>
            <a:ext cx="3840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84648" y="12435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Categorical Encoding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84648" y="153619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label-encoded: Gender, Extracurricular, Part-time (Yes=1, No=0).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214884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148840"/>
            <a:ext cx="384048" cy="8046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148840"/>
            <a:ext cx="3840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84648" y="22037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Imputation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84648" y="249631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Median-filled all NaN values per column across combined dataset.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09160" y="310896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108960"/>
            <a:ext cx="38404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108960"/>
            <a:ext cx="3840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184648" y="31638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Range Clipping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84648" y="345643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Clipped Likert scales: Stress/Anxiety [1,5], Sleep quality [1,10].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09160" y="406908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4069080"/>
            <a:ext cx="384048" cy="8046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4069080"/>
            <a:ext cx="3840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184648" y="41239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Deduplication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84648" y="44165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exact duplicates (0 found) → Final: 205 rows × 15 columns.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 Statistics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descriptive stats for 10 variables (n = 205)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6995160" cy="388620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Study Hours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Courses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 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Anxiety 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Hours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Quality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Part-time Hours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−2.355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Stress mean 3.45/5 indicates moderate-to-high stress on average across students.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| EDA — Variable Distributions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 with KDE curves for all key numeric variables</a:t>
            </a:r>
            <a:endParaRPr lang="en-US" sz="1200" dirty="0"/>
          </a:p>
        </p:txBody>
      </p:sp>
      <p:pic>
        <p:nvPicPr>
          <p:cNvPr id="5" name="Image 0" descr="/home/claude/fig_dis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60120"/>
            <a:ext cx="859536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75488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&amp; Anxiety: Near-symmetric (Likert 1–5). Sleep hours: Mean 6.38 hrs, slight negative skew. Study hours: Wide range 0–39 hrs, roughly uniform. Part-time hours: Right-skewed — most students work few hours.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— Pearson Correlation Matrix</a:t>
            </a:r>
            <a:endParaRPr lang="en-US" sz="2400" dirty="0"/>
          </a:p>
        </p:txBody>
      </p:sp>
      <p:pic>
        <p:nvPicPr>
          <p:cNvPr id="5" name="Image 0" descr="/home/claude/fig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914400"/>
            <a:ext cx="566928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0058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Notable Correlations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1463040"/>
            <a:ext cx="274320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47472" y="151790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= +0.67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3000" y="153619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hrs ↔ Sleep quality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4320" y="2039112"/>
            <a:ext cx="274320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7472" y="209397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= +0.46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43000" y="211226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↔ Anxiety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74320" y="2615184"/>
            <a:ext cx="274320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47472" y="267004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= +0.39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43000" y="268833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hrs ↔ Stress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74320" y="3191256"/>
            <a:ext cx="274320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47472" y="324612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= −0.47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43000" y="3264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↔ Sleep hrs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74320" y="3767328"/>
            <a:ext cx="274320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47472" y="38221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= −0.25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43000" y="384048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hrs ↔ Anxiety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74320" y="4343400"/>
            <a:ext cx="274320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347472" y="439826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= −0.21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43000" y="441655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hrs ↔ Sleep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— Mental Health Indicators by Gender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stress, anxiety, and sleep between male and female students</a:t>
            </a:r>
            <a:endParaRPr lang="en-US" sz="1200" dirty="0"/>
          </a:p>
        </p:txBody>
      </p:sp>
      <p:pic>
        <p:nvPicPr>
          <p:cNvPr id="5" name="Image 0" descr="/home/claude/fig_boxplot_ge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60120"/>
            <a:ext cx="859536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572000"/>
            <a:ext cx="2697480" cy="43891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57200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Stress: Males show slightly higher median stress (≈3.1 vs 3.0)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154680" y="4572000"/>
            <a:ext cx="2697480" cy="43891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46120" y="457200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Anxiety: Females show marginally higher median anxiety — both groups similar spread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35040" y="4572000"/>
            <a:ext cx="2697480" cy="43891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6480" y="457200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Sleep: Sleep hours nearly identical across genders; median ~6.3 hrs for both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— Mental Health Indicators by Year of Study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stress, anxiety, and sleep evolve across 1st–4th year</a:t>
            </a:r>
            <a:endParaRPr lang="en-US" sz="1200" dirty="0"/>
          </a:p>
        </p:txBody>
      </p:sp>
      <p:pic>
        <p:nvPicPr>
          <p:cNvPr id="5" name="Image 0" descr="/home/claude/fig_boxplot_y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60120"/>
            <a:ext cx="859536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38912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Stress peaks in 3rd–4th year (IQR shifts upward markedly)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463600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😰  Anxiety remains similarly elevated from 1st to 4th year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4905756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  Sleep hours show a gradual declining trend through 4th year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— Activities vs Stress Level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extracurricular activities and part-time jobs on stress</a:t>
            </a:r>
            <a:endParaRPr lang="en-US" sz="1200" dirty="0"/>
          </a:p>
        </p:txBody>
      </p:sp>
      <p:pic>
        <p:nvPicPr>
          <p:cNvPr id="5" name="Image 0" descr="/home/claude/fig_activities_st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60120"/>
            <a:ext cx="8595360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462272"/>
            <a:ext cx="411480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4622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Extracurricular: Students who participate show slightly lower median stress — structured social engagement may buffer academic stress.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663440" y="4462272"/>
            <a:ext cx="411480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44622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Part-time Job: Students with jobs show a higher median stress level — time pressure from work compounds academic load.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|  OLS Linear Regression — Theory &amp; Implementation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Form:  ŷ = β₀ + β₁x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8412480" cy="621792"/>
          </a:xfrm>
          <a:prstGeom prst="rect">
            <a:avLst/>
          </a:prstGeom>
          <a:solidFill>
            <a:srgbClr val="EEF9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459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Slope  β₁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1645920"/>
            <a:ext cx="0" cy="438912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64592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β₁ = Σ[(xᵢ − x̄)(yᵢ − ȳ)] / Σ[(xᵢ − x̄)²]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8412480" cy="621792"/>
          </a:xfrm>
          <a:prstGeom prst="rect">
            <a:avLst/>
          </a:prstGeom>
          <a:solidFill>
            <a:srgbClr val="EEF9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9572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Intercept  β₀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2395728"/>
            <a:ext cx="0" cy="438912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395728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β₀ = ȳ − β₁x̄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054096"/>
            <a:ext cx="8412480" cy="621792"/>
          </a:xfrm>
          <a:prstGeom prst="rect">
            <a:avLst/>
          </a:prstGeom>
          <a:solidFill>
            <a:srgbClr val="EEF9F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2920" y="314553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 (Fit)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06040" y="3145536"/>
            <a:ext cx="0" cy="438912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3145536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 = 1 − SSR / SST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803904"/>
            <a:ext cx="8412480" cy="621792"/>
          </a:xfrm>
          <a:prstGeom prst="rect">
            <a:avLst/>
          </a:prstGeom>
          <a:solidFill>
            <a:srgbClr val="EEF9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89534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RMSE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06040" y="3895344"/>
            <a:ext cx="0" cy="438912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3895344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RMSE = √[Σ(yᵢ − ŷᵢ)² / n]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626864"/>
            <a:ext cx="84124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6268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No sklearn or statsmodels used — all OLS computations implemented manually in NumPy, satisfying course constraints.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| Model 1: Weekly Study Hours → Stress Level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 study hour raises stress by +0.041 points</a:t>
            </a:r>
            <a:endParaRPr lang="en-US" sz="1200" dirty="0"/>
          </a:p>
        </p:txBody>
      </p:sp>
      <p:pic>
        <p:nvPicPr>
          <p:cNvPr id="5" name="Image 0" descr="/home/claude/fig_mode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8595360" cy="3154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160520"/>
            <a:ext cx="420624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41605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2.714 + 0.041x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74320" y="4617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Significant: more studying → more stress (p &lt; 0.0001)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4160520"/>
            <a:ext cx="7498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709160" y="420624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0.150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709160" y="4663440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577840" y="4160520"/>
            <a:ext cx="7498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577840" y="420624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0.387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577840" y="4663440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46520" y="4160520"/>
            <a:ext cx="7498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46520" y="420624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1.098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46520" y="4663440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315200" y="4160520"/>
            <a:ext cx="7498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315200" y="420624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35.77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315200" y="4663440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183880" y="4160520"/>
            <a:ext cx="7498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183880" y="420624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&lt;0.0001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183880" y="4663440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2: Number of Courses → Anxiety Score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additional course raises anxiety by +0.371 points</a:t>
            </a:r>
            <a:endParaRPr lang="en-US" sz="1200" dirty="0"/>
          </a:p>
        </p:txBody>
      </p:sp>
      <p:pic>
        <p:nvPicPr>
          <p:cNvPr id="5" name="Image 0" descr="/home/claude/fig_mode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8595360" cy="3154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160520"/>
            <a:ext cx="420624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41605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1.852 + 0.371x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74320" y="4617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model — direct cognitive load from course count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4160520"/>
            <a:ext cx="7498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709160" y="420624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0.214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709160" y="4663440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577840" y="4160520"/>
            <a:ext cx="7498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577840" y="420624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0.462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577840" y="4663440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46520" y="4160520"/>
            <a:ext cx="7498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46520" y="420624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0.849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46520" y="4663440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315200" y="4160520"/>
            <a:ext cx="7498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315200" y="420624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55.11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315200" y="4663440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183880" y="4160520"/>
            <a:ext cx="7498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183880" y="420624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&lt;0.0001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183880" y="4663440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3: Weekly Study Hours → Sleep Hours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study time trades off with sleep (−0.026 hrs per study hour)</a:t>
            </a:r>
            <a:endParaRPr lang="en-US" sz="1200" dirty="0"/>
          </a:p>
        </p:txBody>
      </p:sp>
      <p:pic>
        <p:nvPicPr>
          <p:cNvPr id="5" name="Image 0" descr="/home/claude/fig_model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8595360" cy="3154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160520"/>
            <a:ext cx="420624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41605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6.843 − 0.026x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74320" y="4617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fit but still significant — sleep is governed by many factors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4160520"/>
            <a:ext cx="7498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709160" y="420624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0.046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709160" y="4663440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577840" y="4160520"/>
            <a:ext cx="7498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577840" y="420624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−0.214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577840" y="4663440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46520" y="4160520"/>
            <a:ext cx="7498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46520" y="420624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1.335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46520" y="4663440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315200" y="4160520"/>
            <a:ext cx="7498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315200" y="420624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9.77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315200" y="4663440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183880" y="4160520"/>
            <a:ext cx="7498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183880" y="420624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0.002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183880" y="4663440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Evaluation &amp; Comparison</a:t>
            </a:r>
            <a:endParaRPr lang="en-US" sz="2400" dirty="0"/>
          </a:p>
        </p:txBody>
      </p:sp>
      <p:pic>
        <p:nvPicPr>
          <p:cNvPr id="5" name="Image 0" descr="/home/claude/fig_r2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16792"/>
            <a:ext cx="4297680" cy="3017520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4206240" cy="201168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23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4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49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M1: Study→Stress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M2: Courses→Anxiety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M3: Study→Sleep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401568"/>
            <a:ext cx="41605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365760" y="34564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M1  Significant ✓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920240" y="347472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 meaningfully predict stress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274320" y="3968496"/>
            <a:ext cx="41605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65760" y="40233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M2  Best Fit ✓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920240" y="404164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count = strongest anxiety predictor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74320" y="4535424"/>
            <a:ext cx="41605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365760" y="45902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M3  Significant ✓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920240" y="460857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R² but real trade-off confirmed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986997" y="4608576"/>
            <a:ext cx="3369212" cy="344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are statistically significant (p &lt; 0.05). Model 2 achieves best explanatory power (R²=0.214).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  |  Discussion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60520" cy="1783080"/>
          </a:xfrm>
          <a:prstGeom prst="rect">
            <a:avLst/>
          </a:prstGeom>
          <a:solidFill>
            <a:srgbClr val="EEF9F8"/>
          </a:solidFill>
          <a:ln w="19050">
            <a:solidFill>
              <a:srgbClr val="F9731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416052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Model 2 performs best?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count imposes direct, measurable cognitive load — each course adds attendance, assignments, exams. This mechanistic clarity yields higher R² vs study hours, which are confounded by efficiency, motivation, and difficulty.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3017520"/>
            <a:ext cx="4160520" cy="1783080"/>
          </a:xfrm>
          <a:prstGeom prst="rect">
            <a:avLst/>
          </a:prstGeom>
          <a:solidFill>
            <a:srgbClr val="EEF9F8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3017520"/>
            <a:ext cx="41605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12724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Model 3 is weakest?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is governed by biology, social habits, screen time, and mental health — variables absent here. Despite the low R² (4.6%), the negative relationship is confirmed (p=0.002), indicating a real but complex trade-off.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160520" cy="1783080"/>
          </a:xfrm>
          <a:prstGeom prst="rect">
            <a:avLst/>
          </a:prstGeom>
          <a:solidFill>
            <a:srgbClr val="EEF9F8"/>
          </a:solidFill>
          <a:ln w="19050">
            <a:solidFill>
              <a:srgbClr val="14B8A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05840"/>
            <a:ext cx="416052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11556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Stress–Sleep Feedback Loop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50876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Stress↔Sleep correlation (r=−0.466) is the strongest inter-variable relationship. Stressed students sleep less; less sleep worsens stress — a vicious cycle simple linear regression cannot fully model but that is evidenced here.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160520" cy="1783080"/>
          </a:xfrm>
          <a:prstGeom prst="rect">
            <a:avLst/>
          </a:prstGeom>
          <a:solidFill>
            <a:srgbClr val="EEF9F8"/>
          </a:solidFill>
          <a:ln w="1905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17520"/>
            <a:ext cx="416052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12724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vs Synthetic Data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52044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real responses introduced realistic noise (e.g., '7-8 hrs', '42 part-time hrs') that validated our preprocessing pipeline. Future studies should collect 200+ purely real responses to eliminate any residual synthetic bias.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Evidence-Based Recommendations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20624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594360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173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1984248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6012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Course Load Management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764792"/>
            <a:ext cx="3383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enrollment at 4–5 courses per semester. Our data show anxiety rises +0.371 per additional course — this single policy change may meaningfully reduce student anxiety scores.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3154680"/>
            <a:ext cx="420624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3154680"/>
            <a:ext cx="594360" cy="1600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2461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74320" y="3813048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60120" y="3246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Study Hours Monitoring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3593592"/>
            <a:ext cx="3383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students studying 30+ hours/week for proactive counselling. Stress = 2.714 + 0.041×(hrs) implies a student studying 35 hrs/week has an expected stress level of 4.1/5.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1325880"/>
            <a:ext cx="420624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325880"/>
            <a:ext cx="594360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4173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😴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09160" y="1984248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39496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Sleep Hygiene Campaigns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94960" y="1764792"/>
            <a:ext cx="3383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 sleep hours–sleep quality correlation (r=0.673) shows improving sleep duration directly improves quality. Universities should promote structured sleep hygiene workshops.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3154680"/>
            <a:ext cx="420624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154680"/>
            <a:ext cx="594360" cy="1600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2461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🏃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709160" y="3813048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394960" y="3246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Extracurricular Encouragement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3593592"/>
            <a:ext cx="3383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in extracurricular activities is associated with slightly lower stress. Investment in student clubs, sports, and social events may serve as a cost-effective stress buffer.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&amp; Future Work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Limitations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data is subject to recall bias and social desirability effects.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130552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8483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55 real responses — 150 synthetic records reduce real-world validity.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752344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0662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only 1 predictor per model (no interaction effects).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374136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32841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design — no temporal causality can be established.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995928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95020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sampling — university may not be representative of all students.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1051560"/>
            <a:ext cx="0" cy="38404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0515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3440" y="150876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6304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regression: model joint effects of workload variables simultaneously.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13055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08483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design: track same cohort across semesters to establish causality.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75234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706624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200+ purely real responses to eliminate synthetic data bias.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374136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328416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additional predictors: mental health history, social support, sleep disorders.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99592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95020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ML models (Random Forest, Ridge Regression) for higher predictive accuracy.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 |  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demonstrated the complete data science pipeline — survey design, data collection, preprocessing, EDA, correlation analysis, and regression modelling — applied to the domain of student mental health.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755648"/>
            <a:ext cx="8412480" cy="822960"/>
          </a:xfrm>
          <a:prstGeom prst="rect">
            <a:avLst/>
          </a:prstGeom>
          <a:solidFill>
            <a:srgbClr val="EEF9F8"/>
          </a:solidFill>
          <a:ln w="190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865376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Finding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83080" y="1847088"/>
            <a:ext cx="0" cy="64008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1865376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study hours significantly predict stress level (β₁=0.041, R²=0.150, p&lt;0.0001) — more studying → more stress.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706624"/>
            <a:ext cx="8412480" cy="822960"/>
          </a:xfrm>
          <a:prstGeom prst="rect">
            <a:avLst/>
          </a:prstGeom>
          <a:solidFill>
            <a:srgbClr val="EEF9F8"/>
          </a:solidFill>
          <a:ln w="19050">
            <a:solidFill>
              <a:srgbClr val="F9731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816352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Finding 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83080" y="2798064"/>
            <a:ext cx="0" cy="640080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2816352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courses is the strongest workload predictor, significantly predicting anxiety (β₁=0.371, R²=0.214, p&lt;0.0001).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8412480" cy="822960"/>
          </a:xfrm>
          <a:prstGeom prst="rect">
            <a:avLst/>
          </a:prstGeom>
          <a:solidFill>
            <a:srgbClr val="EEF9F8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767328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Finding 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83080" y="3749040"/>
            <a:ext cx="0" cy="64008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3767328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 negatively predict sleep duration (β₁=−0.026, R²=0.046, p=0.002) — a real but complex trade-off confirmed.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models are statistically significant (p &lt; 0.05) — OLS from scratch in NumPy — satisfying all course requirements.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0" y="1920240"/>
            <a:ext cx="45720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103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0" y="21031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 students (55 real + 150 synthetic)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72491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0" y="272491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Linear Regression — NumPy from scratch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334670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Model: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0" y="334670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M2: Courses → Anxiety  (R² = 0.214)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396849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396849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count &amp; study hours significantly impact mental health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CSE303: Statistics for Data Science  |  Spring 2026  |  Term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2089</Words>
  <Application>Microsoft Office PowerPoint</Application>
  <PresentationFormat>On-screen Show (16:9)</PresentationFormat>
  <Paragraphs>402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Workload &amp; Mental Health in University Students</dc:title>
  <dc:subject>PptxGenJS Presentation</dc:subject>
  <dc:creator>PptxGenJS</dc:creator>
  <cp:lastModifiedBy>LORD ICHIGO</cp:lastModifiedBy>
  <cp:revision>4</cp:revision>
  <dcterms:created xsi:type="dcterms:W3CDTF">2026-04-23T03:10:32Z</dcterms:created>
  <dcterms:modified xsi:type="dcterms:W3CDTF">2026-04-23T04:09:55Z</dcterms:modified>
</cp:coreProperties>
</file>